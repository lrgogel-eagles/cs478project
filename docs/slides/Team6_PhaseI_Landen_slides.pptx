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the data modeler, so I'll start with the database. These are the six tables we need for Phase I. Users join campaigns through memberships, and the membership says if you're the GM or a player. Characters, session notes and dice rolls all belong to a campaign. PostgreSQL checks most of these rules itself. Even if our server code has a bug, a campaign still can't end up with two GMs.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up our GitHub rules and CI. Every change goes through a pull request, because nobody can push straight to main. When you open one, GitHub starts a fresh PostgreSQL database, loads our demo campaign and runs every test. It can only merge after a teammate approves and the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our database tests. It makes a campaign with three session notes, one of them GM-only, and checks that a player only gets the other two. We have 33 tests right now and CI runs all of them on every pull request. Because the tests wipe the database, they only run on one whose name ends in _test.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229600" cy="594360"/>
          </a:xfrm>
          <a:prstGeom prst="rect">
            <a:avLst/>
          </a:prstGeom>
          <a:noFill/>
          <a:ln/>
        </p:spPr>
        <p:txBody>
          <a:bodyPr wrap="square" rtlCol="0"/>
          <a:lstStyle>
            <a:lvl1pPr algn="l" indent="0" marL="0">
              <a:buNone/>
              <a:defRPr lang="en-US" sz="3200" b="1" dirty="0">
                <a:solidFill>
                  <a:srgbClr val="000000"/>
                </a:solidFill>
                <a:latin typeface="Calibri" pitchFamily="34" charset="0"/>
                <a:ea typeface="Calibri" pitchFamily="34" charset="-122"/>
                <a:cs typeface="Calibri" pitchFamily="34" charset="-120"/>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000000"/>
                </a:solidFill>
                <a:latin typeface="Calibri" pitchFamily="34" charset="0"/>
                <a:ea typeface="Calibri" pitchFamily="34" charset="-122"/>
                <a:cs typeface="Calibri" pitchFamily="34" charset="-120"/>
              </a:rPr>
              <a:t>Our database</a:t>
            </a:r>
            <a:endParaRPr lang="en-US" sz="3200" dirty="0"/>
          </a:p>
        </p:txBody>
      </p:sp>
      <p:sp>
        <p:nvSpPr>
          <p:cNvPr id="3" name="Straight Connector 2"/>
          <p:cNvSpPr/>
          <p:nvPr/>
        </p:nvSpPr>
        <p:spPr>
          <a:xfrm>
            <a:off x="1828800" y="1531620"/>
            <a:ext cx="228600" cy="0"/>
          </a:xfrm>
          <a:prstGeom prst="line">
            <a:avLst/>
          </a:prstGeom>
          <a:noFill/>
          <a:ln w="15875">
            <a:solidFill>
              <a:srgbClr val="000000"/>
            </a:solidFill>
            <a:prstDash val="solid"/>
          </a:ln>
        </p:spPr>
      </p:sp>
      <p:sp>
        <p:nvSpPr>
          <p:cNvPr id="4" name="Straight Connector 3"/>
          <p:cNvSpPr/>
          <p:nvPr/>
        </p:nvSpPr>
        <p:spPr>
          <a:xfrm>
            <a:off x="3429000" y="1531620"/>
            <a:ext cx="228600" cy="0"/>
          </a:xfrm>
          <a:prstGeom prst="line">
            <a:avLst/>
          </a:prstGeom>
          <a:noFill/>
          <a:ln w="15875">
            <a:solidFill>
              <a:srgbClr val="000000"/>
            </a:solidFill>
            <a:prstDash val="solid"/>
          </a:ln>
        </p:spPr>
      </p:sp>
      <p:sp>
        <p:nvSpPr>
          <p:cNvPr id="5" name="Straight Connector 4"/>
          <p:cNvSpPr/>
          <p:nvPr/>
        </p:nvSpPr>
        <p:spPr>
          <a:xfrm>
            <a:off x="4343400" y="1783080"/>
            <a:ext cx="0" cy="365760"/>
          </a:xfrm>
          <a:prstGeom prst="line">
            <a:avLst/>
          </a:prstGeom>
          <a:noFill/>
          <a:ln w="15875">
            <a:solidFill>
              <a:srgbClr val="000000"/>
            </a:solidFill>
            <a:prstDash val="solid"/>
          </a:ln>
        </p:spPr>
      </p:sp>
      <p:sp>
        <p:nvSpPr>
          <p:cNvPr id="6" name="Straight Connector 5"/>
          <p:cNvSpPr/>
          <p:nvPr/>
        </p:nvSpPr>
        <p:spPr>
          <a:xfrm>
            <a:off x="1143000" y="2148840"/>
            <a:ext cx="3200400" cy="0"/>
          </a:xfrm>
          <a:prstGeom prst="line">
            <a:avLst/>
          </a:prstGeom>
          <a:noFill/>
          <a:ln w="15875">
            <a:solidFill>
              <a:srgbClr val="000000"/>
            </a:solidFill>
            <a:prstDash val="solid"/>
          </a:ln>
        </p:spPr>
      </p:sp>
      <p:sp>
        <p:nvSpPr>
          <p:cNvPr id="7" name="Straight Connector 6"/>
          <p:cNvSpPr/>
          <p:nvPr/>
        </p:nvSpPr>
        <p:spPr>
          <a:xfrm>
            <a:off x="1143000" y="2148840"/>
            <a:ext cx="0" cy="365760"/>
          </a:xfrm>
          <a:prstGeom prst="line">
            <a:avLst/>
          </a:prstGeom>
          <a:noFill/>
          <a:ln w="15875">
            <a:solidFill>
              <a:srgbClr val="000000"/>
            </a:solidFill>
            <a:prstDash val="solid"/>
          </a:ln>
        </p:spPr>
      </p:sp>
      <p:sp>
        <p:nvSpPr>
          <p:cNvPr id="8" name="Straight Connector 7"/>
          <p:cNvSpPr/>
          <p:nvPr/>
        </p:nvSpPr>
        <p:spPr>
          <a:xfrm>
            <a:off x="2743200" y="2148840"/>
            <a:ext cx="0" cy="365760"/>
          </a:xfrm>
          <a:prstGeom prst="line">
            <a:avLst/>
          </a:prstGeom>
          <a:noFill/>
          <a:ln w="15875">
            <a:solidFill>
              <a:srgbClr val="000000"/>
            </a:solidFill>
            <a:prstDash val="solid"/>
          </a:ln>
        </p:spPr>
      </p:sp>
      <p:sp>
        <p:nvSpPr>
          <p:cNvPr id="9" name="Straight Connector 8"/>
          <p:cNvSpPr/>
          <p:nvPr/>
        </p:nvSpPr>
        <p:spPr>
          <a:xfrm>
            <a:off x="4343400" y="2148840"/>
            <a:ext cx="0" cy="365760"/>
          </a:xfrm>
          <a:prstGeom prst="line">
            <a:avLst/>
          </a:prstGeom>
          <a:noFill/>
          <a:ln w="15875">
            <a:solidFill>
              <a:srgbClr val="000000"/>
            </a:solidFill>
            <a:prstDash val="solid"/>
          </a:ln>
        </p:spPr>
      </p:sp>
      <p:sp>
        <p:nvSpPr>
          <p:cNvPr id="10" name="TextBox 9"/>
          <p:cNvSpPr txBox="1"/>
          <p:nvPr/>
        </p:nvSpPr>
        <p:spPr>
          <a:xfrm>
            <a:off x="457200" y="1280160"/>
            <a:ext cx="1371600" cy="502920"/>
          </a:xfrm>
          <a:prstGeom prst="rect">
            <a:avLst/>
          </a:prstGeom>
          <a:solidFill>
            <a:srgbClr val="FFFFFF"/>
          </a:solidFill>
          <a:ln w="15875">
            <a:solidFill>
              <a:srgbClr val="000000"/>
            </a:solid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users</a:t>
            </a:r>
            <a:endParaRPr lang="en-US" sz="1600" dirty="0"/>
          </a:p>
        </p:txBody>
      </p:sp>
      <p:sp>
        <p:nvSpPr>
          <p:cNvPr id="11" name="TextBox 10"/>
          <p:cNvSpPr txBox="1"/>
          <p:nvPr/>
        </p:nvSpPr>
        <p:spPr>
          <a:xfrm>
            <a:off x="2057400" y="1280160"/>
            <a:ext cx="1371600" cy="502920"/>
          </a:xfrm>
          <a:prstGeom prst="rect">
            <a:avLst/>
          </a:prstGeom>
          <a:solidFill>
            <a:srgbClr val="FFFFFF"/>
          </a:solidFill>
          <a:ln w="15875">
            <a:solidFill>
              <a:srgbClr val="000000"/>
            </a:solid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memberships</a:t>
            </a:r>
            <a:endParaRPr lang="en-US" sz="1600" dirty="0"/>
          </a:p>
        </p:txBody>
      </p:sp>
      <p:sp>
        <p:nvSpPr>
          <p:cNvPr id="12" name="TextBox 11"/>
          <p:cNvSpPr txBox="1"/>
          <p:nvPr/>
        </p:nvSpPr>
        <p:spPr>
          <a:xfrm>
            <a:off x="3657600" y="1280160"/>
            <a:ext cx="1371600" cy="502920"/>
          </a:xfrm>
          <a:prstGeom prst="rect">
            <a:avLst/>
          </a:prstGeom>
          <a:solidFill>
            <a:srgbClr val="FFFFFF"/>
          </a:solidFill>
          <a:ln w="15875">
            <a:solidFill>
              <a:srgbClr val="000000"/>
            </a:solid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campaigns</a:t>
            </a:r>
            <a:endParaRPr lang="en-US" sz="1600" dirty="0"/>
          </a:p>
        </p:txBody>
      </p:sp>
      <p:sp>
        <p:nvSpPr>
          <p:cNvPr id="13" name="TextBox 12"/>
          <p:cNvSpPr txBox="1"/>
          <p:nvPr/>
        </p:nvSpPr>
        <p:spPr>
          <a:xfrm>
            <a:off x="457200" y="2514600"/>
            <a:ext cx="1371600" cy="502920"/>
          </a:xfrm>
          <a:prstGeom prst="rect">
            <a:avLst/>
          </a:prstGeom>
          <a:solidFill>
            <a:srgbClr val="FFFFFF"/>
          </a:solidFill>
          <a:ln w="15875">
            <a:solidFill>
              <a:srgbClr val="000000"/>
            </a:solid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characters</a:t>
            </a:r>
            <a:endParaRPr lang="en-US" sz="1600" dirty="0"/>
          </a:p>
        </p:txBody>
      </p:sp>
      <p:sp>
        <p:nvSpPr>
          <p:cNvPr id="14" name="TextBox 13"/>
          <p:cNvSpPr txBox="1"/>
          <p:nvPr/>
        </p:nvSpPr>
        <p:spPr>
          <a:xfrm>
            <a:off x="2057400" y="2514600"/>
            <a:ext cx="1371600" cy="502920"/>
          </a:xfrm>
          <a:prstGeom prst="rect">
            <a:avLst/>
          </a:prstGeom>
          <a:solidFill>
            <a:srgbClr val="FFFFFF"/>
          </a:solidFill>
          <a:ln w="15875">
            <a:solidFill>
              <a:srgbClr val="000000"/>
            </a:solid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session_notes</a:t>
            </a:r>
            <a:endParaRPr lang="en-US" sz="1600" dirty="0"/>
          </a:p>
        </p:txBody>
      </p:sp>
      <p:sp>
        <p:nvSpPr>
          <p:cNvPr id="15" name="TextBox 14"/>
          <p:cNvSpPr txBox="1"/>
          <p:nvPr/>
        </p:nvSpPr>
        <p:spPr>
          <a:xfrm>
            <a:off x="3657600" y="2514600"/>
            <a:ext cx="1371600" cy="502920"/>
          </a:xfrm>
          <a:prstGeom prst="rect">
            <a:avLst/>
          </a:prstGeom>
          <a:solidFill>
            <a:srgbClr val="FFFFFF"/>
          </a:solidFill>
          <a:ln w="15875">
            <a:solidFill>
              <a:srgbClr val="000000"/>
            </a:solid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dice_rolls</a:t>
            </a:r>
            <a:endParaRPr lang="en-US" sz="1600" dirty="0"/>
          </a:p>
        </p:txBody>
      </p:sp>
      <p:sp>
        <p:nvSpPr>
          <p:cNvPr id="16" name="TextBox 15"/>
          <p:cNvSpPr txBox="1"/>
          <p:nvPr/>
        </p:nvSpPr>
        <p:spPr>
          <a:xfrm>
            <a:off x="457200" y="3520440"/>
            <a:ext cx="4572000" cy="731520"/>
          </a:xfrm>
          <a:prstGeom prst="rect">
            <a:avLst/>
          </a:prstGeom>
          <a:noFill/>
          <a:ln/>
        </p:spPr>
        <p:txBody>
          <a:bodyPr wrap="square" lIns="0" tIns="0" rIns="0" bIns="0" rtlCol="0" anchor="t"/>
          <a:lstStyle/>
          <a:p>
            <a:pPr indent="0" marL="0">
              <a:buNone/>
            </a:pPr>
            <a:r>
              <a:rPr lang="en-US" sz="1800" dirty="0">
                <a:solidFill>
                  <a:srgbClr val="404040"/>
                </a:solidFill>
                <a:latin typeface="Calibri" pitchFamily="34" charset="0"/>
                <a:ea typeface="Calibri" pitchFamily="34" charset="-122"/>
                <a:cs typeface="Calibri" pitchFamily="34" charset="-120"/>
              </a:rPr>
              <a:t>Phase II adds 5 more tables.</a:t>
            </a:r>
            <a:endParaRPr lang="en-US" sz="1800" dirty="0"/>
          </a:p>
          <a:p>
            <a:pPr indent="0" marL="0">
              <a:buNone/>
            </a:pPr>
            <a:r>
              <a:rPr lang="en-US" sz="1800" dirty="0">
                <a:solidFill>
                  <a:srgbClr val="404040"/>
                </a:solidFill>
                <a:latin typeface="Calibri" pitchFamily="34" charset="0"/>
                <a:ea typeface="Calibri" pitchFamily="34" charset="-122"/>
                <a:cs typeface="Calibri" pitchFamily="34" charset="-120"/>
              </a:rPr>
              <a:t>They are already written.</a:t>
            </a:r>
            <a:endParaRPr lang="en-US" sz="1800" dirty="0"/>
          </a:p>
        </p:txBody>
      </p:sp>
      <p:sp>
        <p:nvSpPr>
          <p:cNvPr id="17" name="TextBox 16"/>
          <p:cNvSpPr txBox="1"/>
          <p:nvPr/>
        </p:nvSpPr>
        <p:spPr>
          <a:xfrm>
            <a:off x="5486400" y="1280160"/>
            <a:ext cx="3200400" cy="365760"/>
          </a:xfrm>
          <a:prstGeom prst="rect">
            <a:avLst/>
          </a:prstGeom>
          <a:noFill/>
          <a:ln/>
        </p:spPr>
        <p:txBody>
          <a:bodyPr wrap="square" lIns="0" tIns="0" rIns="0" bIns="0" rtlCol="0" anchor="t"/>
          <a:lstStyle/>
          <a:p>
            <a:pPr indent="0" marL="0">
              <a:buNone/>
            </a:pPr>
            <a:r>
              <a:rPr lang="en-US" sz="2000" b="1" dirty="0">
                <a:solidFill>
                  <a:srgbClr val="000000"/>
                </a:solidFill>
                <a:latin typeface="Calibri" pitchFamily="34" charset="0"/>
                <a:ea typeface="Calibri" pitchFamily="34" charset="-122"/>
                <a:cs typeface="Calibri" pitchFamily="34" charset="-120"/>
              </a:rPr>
              <a:t>Built-in rules</a:t>
            </a:r>
            <a:endParaRPr lang="en-US" sz="2000" dirty="0"/>
          </a:p>
        </p:txBody>
      </p:sp>
      <p:sp>
        <p:nvSpPr>
          <p:cNvPr id="18" name="TextBox 17"/>
          <p:cNvSpPr txBox="1"/>
          <p:nvPr/>
        </p:nvSpPr>
        <p:spPr>
          <a:xfrm>
            <a:off x="5486400" y="1737360"/>
            <a:ext cx="3200400" cy="2560320"/>
          </a:xfrm>
          <a:prstGeom prst="rect">
            <a:avLst/>
          </a:prstGeom>
          <a:noFill/>
          <a:ln/>
        </p:spPr>
        <p:txBody>
          <a:bodyPr wrap="square" lIns="0" tIns="38100" rIns="0" bIns="0" rtlCol="0" anchor="t"/>
          <a:lstStyle/>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One GM per campaign</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Invite codes are unique</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One account per email</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Level is 1 to 20</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Players can't see GM notes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000000"/>
                </a:solidFill>
                <a:latin typeface="Calibri" pitchFamily="34" charset="0"/>
                <a:ea typeface="Calibri" pitchFamily="34" charset="-122"/>
                <a:cs typeface="Calibri" pitchFamily="34" charset="-120"/>
              </a:rPr>
              <a:t>How a change gets into main</a:t>
            </a:r>
            <a:endParaRPr lang="en-US" sz="3200" dirty="0"/>
          </a:p>
        </p:txBody>
      </p:sp>
      <p:sp>
        <p:nvSpPr>
          <p:cNvPr id="3" name="TextBox 2"/>
          <p:cNvSpPr txBox="1"/>
          <p:nvPr/>
        </p:nvSpPr>
        <p:spPr>
          <a:xfrm>
            <a:off x="457200" y="1234440"/>
            <a:ext cx="8229600" cy="2377440"/>
          </a:xfrm>
          <a:prstGeom prst="rect">
            <a:avLst/>
          </a:prstGeom>
          <a:noFill/>
          <a:ln/>
        </p:spPr>
        <p:txBody>
          <a:bodyPr wrap="square" lIns="0" tIns="0" rIns="0" bIns="0" rtlCol="0" anchor="t"/>
          <a:lstStyle/>
          <a:p>
            <a:pPr indent="0" marL="0">
              <a:spcAft>
                <a:spcPts val="1000"/>
              </a:spcAft>
              <a:buNone/>
            </a:pPr>
            <a:r>
              <a:rPr lang="en-US" sz="2200" dirty="0">
                <a:solidFill>
                  <a:srgbClr val="000000"/>
                </a:solidFill>
                <a:latin typeface="Calibri" pitchFamily="34" charset="0"/>
                <a:ea typeface="Calibri" pitchFamily="34" charset="-122"/>
                <a:cs typeface="Calibri" pitchFamily="34" charset="-120"/>
              </a:rPr>
              <a:t>1.  Make a branch named after the issue (feature/4-join-campaign)</a:t>
            </a:r>
            <a:endParaRPr lang="en-US" sz="2200" dirty="0"/>
          </a:p>
          <a:p>
            <a:pPr indent="0" marL="0">
              <a:spcAft>
                <a:spcPts val="1000"/>
              </a:spcAft>
              <a:buNone/>
            </a:pPr>
            <a:r>
              <a:rPr lang="en-US" sz="2200" dirty="0">
                <a:solidFill>
                  <a:srgbClr val="000000"/>
                </a:solidFill>
                <a:latin typeface="Calibri" pitchFamily="34" charset="0"/>
                <a:ea typeface="Calibri" pitchFamily="34" charset="-122"/>
                <a:cs typeface="Calibri" pitchFamily="34" charset="-120"/>
              </a:rPr>
              <a:t>2.  Open a pull request that says "Closes #4"</a:t>
            </a:r>
            <a:endParaRPr lang="en-US" sz="2200" dirty="0"/>
          </a:p>
          <a:p>
            <a:pPr indent="0" marL="0">
              <a:spcAft>
                <a:spcPts val="1000"/>
              </a:spcAft>
              <a:buNone/>
            </a:pPr>
            <a:r>
              <a:rPr lang="en-US" sz="2200" dirty="0">
                <a:solidFill>
                  <a:srgbClr val="000000"/>
                </a:solidFill>
                <a:latin typeface="Calibri" pitchFamily="34" charset="0"/>
                <a:ea typeface="Calibri" pitchFamily="34" charset="-122"/>
                <a:cs typeface="Calibri" pitchFamily="34" charset="-120"/>
              </a:rPr>
              <a:t>3.  CI starts a fresh PostgreSQL database</a:t>
            </a:r>
            <a:endParaRPr lang="en-US" sz="2200" dirty="0"/>
          </a:p>
          <a:p>
            <a:pPr indent="0" marL="0">
              <a:spcAft>
                <a:spcPts val="1000"/>
              </a:spcAft>
              <a:buNone/>
            </a:pPr>
            <a:r>
              <a:rPr lang="en-US" sz="2200" dirty="0">
                <a:solidFill>
                  <a:srgbClr val="000000"/>
                </a:solidFill>
                <a:latin typeface="Calibri" pitchFamily="34" charset="0"/>
                <a:ea typeface="Calibri" pitchFamily="34" charset="-122"/>
                <a:cs typeface="Calibri" pitchFamily="34" charset="-120"/>
              </a:rPr>
              <a:t>4.  CI loads the demo campaign and runs all 33 tests</a:t>
            </a:r>
            <a:endParaRPr lang="en-US" sz="2200" dirty="0"/>
          </a:p>
          <a:p>
            <a:pPr indent="0" marL="0">
              <a:spcAft>
                <a:spcPts val="1000"/>
              </a:spcAft>
              <a:buNone/>
            </a:pPr>
            <a:r>
              <a:rPr lang="en-US" sz="2200" dirty="0">
                <a:solidFill>
                  <a:srgbClr val="000000"/>
                </a:solidFill>
                <a:latin typeface="Calibri" pitchFamily="34" charset="0"/>
                <a:ea typeface="Calibri" pitchFamily="34" charset="-122"/>
                <a:cs typeface="Calibri" pitchFamily="34" charset="-120"/>
              </a:rPr>
              <a:t>5.  A teammate approves, then it can merge</a:t>
            </a:r>
            <a:endParaRPr lang="en-US" sz="2200" dirty="0"/>
          </a:p>
        </p:txBody>
      </p:sp>
      <p:sp>
        <p:nvSpPr>
          <p:cNvPr id="4" name="TextBox 3"/>
          <p:cNvSpPr txBox="1"/>
          <p:nvPr/>
        </p:nvSpPr>
        <p:spPr>
          <a:xfrm>
            <a:off x="457200" y="3840480"/>
            <a:ext cx="8229600" cy="411480"/>
          </a:xfrm>
          <a:prstGeom prst="rect">
            <a:avLst/>
          </a:prstGeom>
          <a:noFill/>
          <a:ln/>
        </p:spPr>
        <p:txBody>
          <a:bodyPr wrap="square" lIns="0" tIns="0" rIns="0" bIns="0" rtlCol="0" anchor="t"/>
          <a:lstStyle/>
          <a:p>
            <a:pPr indent="0" marL="0">
              <a:buNone/>
            </a:pPr>
            <a:r>
              <a:rPr lang="en-US" sz="2000" dirty="0">
                <a:solidFill>
                  <a:srgbClr val="404040"/>
                </a:solidFill>
                <a:latin typeface="Calibri" pitchFamily="34" charset="0"/>
                <a:ea typeface="Calibri" pitchFamily="34" charset="-122"/>
                <a:cs typeface="Calibri" pitchFamily="34" charset="-120"/>
              </a:rPr>
              <a:t>Nobody can push straight to main.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000000"/>
                </a:solidFill>
                <a:latin typeface="Calibri" pitchFamily="34" charset="0"/>
                <a:ea typeface="Calibri" pitchFamily="34" charset="-122"/>
                <a:cs typeface="Calibri" pitchFamily="34" charset="-120"/>
              </a:rPr>
              <a:t>Testing the database</a:t>
            </a:r>
            <a:endParaRPr lang="en-US" sz="3200" dirty="0"/>
          </a:p>
        </p:txBody>
      </p:sp>
      <p:sp>
        <p:nvSpPr>
          <p:cNvPr id="3" name="TextBox 2"/>
          <p:cNvSpPr txBox="1"/>
          <p:nvPr/>
        </p:nvSpPr>
        <p:spPr>
          <a:xfrm>
            <a:off x="457200" y="1188720"/>
            <a:ext cx="8229600" cy="2240280"/>
          </a:xfrm>
          <a:prstGeom prst="rect">
            <a:avLst/>
          </a:prstGeom>
          <a:solidFill>
            <a:srgbClr val="F2F2F2"/>
          </a:solidFill>
          <a:ln/>
        </p:spPr>
        <p:txBody>
          <a:bodyPr wrap="square" lIns="101600" tIns="177800" rIns="177800" bIns="101600" rtlCol="0" anchor="ctr"/>
          <a:lstStyle/>
          <a:p>
            <a:pPr indent="0" marL="0">
              <a:buNone/>
            </a:pPr>
            <a:r>
              <a:rPr lang="en-US" sz="1600" dirty="0">
                <a:solidFill>
                  <a:srgbClr val="000000"/>
                </a:solidFill>
                <a:latin typeface="Courier New" pitchFamily="34" charset="0"/>
                <a:ea typeface="Courier New" pitchFamily="34" charset="-122"/>
                <a:cs typeface="Courier New" pitchFamily="34" charset="-120"/>
              </a:rPr>
              <a:t>test('players do not get GM-only notes', async () =&gt; {</a:t>
            </a:r>
            <a:endParaRPr lang="en-US" sz="1600" dirty="0"/>
          </a:p>
          <a:p>
            <a:pPr indent="0" marL="0">
              <a:buNone/>
            </a:pPr>
            <a:r>
              <a:rPr lang="en-US" sz="1600" dirty="0">
                <a:solidFill>
                  <a:srgbClr val="000000"/>
                </a:solidFill>
                <a:latin typeface="Courier New" pitchFamily="34" charset="0"/>
                <a:ea typeface="Courier New" pitchFamily="34" charset="-122"/>
                <a:cs typeface="Courier New" pitchFamily="34" charset="-120"/>
              </a:rPr>
              <a:t>  const { campaign } = await setUp();</a:t>
            </a:r>
            <a:endParaRPr lang="en-US" sz="1600" dirty="0"/>
          </a:p>
          <a:p>
            <a:pPr indent="0" marL="0">
              <a:buNone/>
            </a:pPr>
            <a:r>
              <a:rPr lang="en-US" sz="1600" dirty="0">
                <a:solidFill>
                  <a:srgbClr val="000000"/>
                </a:solidFill>
                <a:latin typeface="Courier New" pitchFamily="34" charset="0"/>
                <a:ea typeface="Courier New" pitchFamily="34" charset="-122"/>
                <a:cs typeface="Courier New" pitchFamily="34" charset="-120"/>
              </a:rPr>
              <a:t>  const titles = (await notes.listSessionNotes(</a:t>
            </a:r>
            <a:endParaRPr lang="en-US" sz="1600" dirty="0"/>
          </a:p>
          <a:p>
            <a:pPr indent="0" marL="0">
              <a:buNone/>
            </a:pPr>
            <a:r>
              <a:rPr lang="en-US" sz="1600" dirty="0">
                <a:solidFill>
                  <a:srgbClr val="000000"/>
                </a:solidFill>
                <a:latin typeface="Courier New" pitchFamily="34" charset="0"/>
                <a:ea typeface="Courier New" pitchFamily="34" charset="-122"/>
                <a:cs typeface="Courier New" pitchFamily="34" charset="-120"/>
              </a:rPr>
              <a:t>    campaign.id, { includeGmOnly: false }))</a:t>
            </a:r>
            <a:endParaRPr lang="en-US" sz="1600" dirty="0"/>
          </a:p>
          <a:p>
            <a:pPr indent="0" marL="0">
              <a:buNone/>
            </a:pPr>
            <a:r>
              <a:rPr lang="en-US" sz="1600" dirty="0">
                <a:solidFill>
                  <a:srgbClr val="000000"/>
                </a:solidFill>
                <a:latin typeface="Courier New" pitchFamily="34" charset="0"/>
                <a:ea typeface="Courier New" pitchFamily="34" charset="-122"/>
                <a:cs typeface="Courier New" pitchFamily="34" charset="-120"/>
              </a:rPr>
              <a:t>    .map((note) =&gt; note.title);</a:t>
            </a:r>
            <a:endParaRPr lang="en-US" sz="1600" dirty="0"/>
          </a:p>
          <a:p>
            <a:pPr indent="0" marL="0">
              <a:buNone/>
            </a:pPr>
            <a:r>
              <a:rPr lang="en-US" sz="1600" dirty="0">
                <a:solidFill>
                  <a:srgbClr val="000000"/>
                </a:solidFill>
                <a:latin typeface="Courier New" pitchFamily="34" charset="0"/>
                <a:ea typeface="Courier New" pitchFamily="34" charset="-122"/>
                <a:cs typeface="Courier New" pitchFamily="34" charset="-120"/>
              </a:rPr>
              <a:t>  expect(titles).toEqual(['Session 2', 'Session 1']);</a:t>
            </a:r>
            <a:endParaRPr lang="en-US" sz="1600" dirty="0"/>
          </a:p>
          <a:p>
            <a:pPr indent="0" marL="0">
              <a:buNone/>
            </a:pPr>
            <a:r>
              <a:rPr lang="en-US" sz="1600" dirty="0">
                <a:solidFill>
                  <a:srgbClr val="000000"/>
                </a:solidFill>
                <a:latin typeface="Courier New" pitchFamily="34" charset="0"/>
                <a:ea typeface="Courier New" pitchFamily="34" charset="-122"/>
                <a:cs typeface="Courier New" pitchFamily="34" charset="-120"/>
              </a:rPr>
              <a:t>});</a:t>
            </a:r>
            <a:endParaRPr lang="en-US" sz="1600" dirty="0"/>
          </a:p>
        </p:txBody>
      </p:sp>
      <p:sp>
        <p:nvSpPr>
          <p:cNvPr id="4" name="TextBox 3"/>
          <p:cNvSpPr txBox="1"/>
          <p:nvPr/>
        </p:nvSpPr>
        <p:spPr>
          <a:xfrm>
            <a:off x="457200" y="3611880"/>
            <a:ext cx="8229600" cy="1051560"/>
          </a:xfrm>
          <a:prstGeom prst="rect">
            <a:avLst/>
          </a:prstGeom>
          <a:noFill/>
          <a:ln/>
        </p:spPr>
        <p:txBody>
          <a:bodyPr wrap="square" lIns="0" tIns="38100" rIns="0" bIns="0" rtlCol="0" anchor="t"/>
          <a:lstStyle/>
          <a:p>
            <a:pPr marL="342900" indent="-342900">
              <a:spcAft>
                <a:spcPts val="600"/>
              </a:spcAft>
              <a:buSzPct val="100000"/>
              <a:buChar char="•"/>
            </a:pPr>
            <a:r>
              <a:rPr lang="en-US" sz="2000" dirty="0">
                <a:solidFill>
                  <a:srgbClr val="000000"/>
                </a:solidFill>
                <a:latin typeface="Calibri" pitchFamily="34" charset="0"/>
                <a:ea typeface="Calibri" pitchFamily="34" charset="-122"/>
                <a:cs typeface="Calibri" pitchFamily="34" charset="-120"/>
              </a:rPr>
              <a:t>33 tests, and CI runs all of them on every pull request</a:t>
            </a:r>
            <a:endParaRPr lang="en-US" sz="2000" dirty="0"/>
          </a:p>
          <a:p>
            <a:pPr marL="342900" indent="-342900">
              <a:spcAft>
                <a:spcPts val="600"/>
              </a:spcAft>
              <a:buSzPct val="100000"/>
              <a:buChar char="•"/>
            </a:pPr>
            <a:r>
              <a:rPr lang="en-US" sz="2000" dirty="0">
                <a:solidFill>
                  <a:srgbClr val="000000"/>
                </a:solidFill>
                <a:latin typeface="Calibri" pitchFamily="34" charset="0"/>
                <a:ea typeface="Calibri" pitchFamily="34" charset="-122"/>
                <a:cs typeface="Calibri" pitchFamily="34" charset="-120"/>
              </a:rPr>
              <a:t>They only run on a database named *_test because they wipe it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160</Words>
  <Application>Microsoft Office PowerPoint</Application>
  <PresentationFormat>On-screen Show (16:9)</PresentationFormat>
  <Paragraphs>32</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Our database</vt:lpstr>
      <vt:lpstr>How a change gets into main</vt:lpstr>
      <vt:lpstr>Testing the database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Campaign Keeper Phase I</dc:title>
  <dc:subject/>
  <dc:creator>Landen Gogel</dc:creator>
  <cp:lastModifiedBy>Landen Gogel</cp:lastModifiedBy>
  <cp:revision>1</cp:revision>
  <dcterms:created xsi:type="dcterms:W3CDTF">2026-10-28T11:58:14Z</dcterms:created>
  <dcterms:modified xsi:type="dcterms:W3CDTF">2026-10-28T11:58:14Z</dcterms:modified>
</cp:coreProperties>
</file>